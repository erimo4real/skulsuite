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82296" cy="13716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ECECEC"/>
                </a:solidFill>
                <a:latin typeface="Inter"/>
              </a:rPr>
              <a:t>CBT — Computer-Based Test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8E8E8E"/>
                </a:solidFill>
                <a:latin typeface="Inter"/>
              </a:rPr>
              <a:t>Exams, courses, practice and certificates — all in the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0A37F"/>
                </a:solidFill>
                <a:latin typeface="Inter"/>
              </a:rPr>
              <a:t>▸  </a:t>
            </a:r>
            <a:r>
              <a:rPr sz="1600" b="0">
                <a:solidFill>
                  <a:srgbClr val="ECECEC"/>
                </a:solidFill>
                <a:latin typeface="Inter"/>
              </a:rPr>
              <a:t>Students take timed exams on any computer or phone — nothing to install.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0A37F"/>
                </a:solidFill>
                <a:latin typeface="Inter"/>
              </a:rPr>
              <a:t>▸  </a:t>
            </a:r>
            <a:r>
              <a:rPr sz="1600" b="0">
                <a:solidFill>
                  <a:srgbClr val="ECECEC"/>
                </a:solidFill>
                <a:latin typeface="Inter"/>
              </a:rPr>
              <a:t>Objective questions score themselves; teachers grade theory in one queue.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0A37F"/>
                </a:solidFill>
                <a:latin typeface="Inter"/>
              </a:rPr>
              <a:t>▸  </a:t>
            </a:r>
            <a:r>
              <a:rPr sz="1600" b="0">
                <a:solidFill>
                  <a:srgbClr val="ECECEC"/>
                </a:solidFill>
                <a:latin typeface="Inter"/>
              </a:rPr>
              <a:t>Admins, instructors and students each get their own role and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8E8E8E"/>
                </a:solidFill>
                <a:latin typeface="Inter"/>
              </a:rPr>
              <a:t>CBT Platform — Exams • Courses • Certificates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CHAPTER 1 —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EC"/>
                </a:solidFill>
                <a:latin typeface="Inter"/>
              </a:rPr>
              <a:t>From question to result, without the paperwork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669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Timed exams:  </a:t>
            </a:r>
            <a:r>
              <a:rPr sz="1700" b="0">
                <a:solidFill>
                  <a:srgbClr val="ECECEC"/>
                </a:solidFill>
                <a:latin typeface="Inter"/>
              </a:rPr>
              <a:t>each attempt runs on its own countdown and submits when time is up.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Instant scoring:  </a:t>
            </a:r>
            <a:r>
              <a:rPr sz="1700" b="0">
                <a:solidFill>
                  <a:srgbClr val="ECECEC"/>
                </a:solidFill>
                <a:latin typeface="Inter"/>
              </a:rPr>
              <a:t>objective answers are marked the moment a student submits.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Theory grading:  </a:t>
            </a:r>
            <a:r>
              <a:rPr sz="1700" b="0">
                <a:solidFill>
                  <a:srgbClr val="ECECEC"/>
                </a:solidFill>
                <a:latin typeface="Inter"/>
              </a:rPr>
              <a:t>written answers go to teachers in a simple marking queue.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Report cards:  </a:t>
            </a:r>
            <a:r>
              <a:rPr sz="1700" b="0">
                <a:solidFill>
                  <a:srgbClr val="ECECEC"/>
                </a:solidFill>
                <a:latin typeface="Inter"/>
              </a:rPr>
              <a:t>per-subject grades (A ≥ 70, B ≥ 60, C ≥ 50, D ≥ 40) on every attempt.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Attempt history:  </a:t>
            </a:r>
            <a:r>
              <a:rPr sz="1700" b="0">
                <a:solidFill>
                  <a:srgbClr val="ECECEC"/>
                </a:solidFill>
                <a:latin typeface="Inter"/>
              </a:rPr>
              <a:t>the platform reports on a student's latest attempt per exam.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00200"/>
            <a:ext cx="5212080" cy="438912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Inter"/>
              </a:rPr>
              <a:t>WHO IT SERVES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4663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▸  </a:t>
            </a:r>
            <a:r>
              <a:rPr sz="1400" b="0">
                <a:solidFill>
                  <a:srgbClr val="ECECEC"/>
                </a:solidFill>
                <a:latin typeface="Inter"/>
              </a:rPr>
              <a:t>Schools running entrance or internal exams at scale.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▸  </a:t>
            </a:r>
            <a:r>
              <a:rPr sz="1400" b="0">
                <a:solidFill>
                  <a:srgbClr val="ECECEC"/>
                </a:solidFill>
                <a:latin typeface="Inter"/>
              </a:rPr>
              <a:t>Instructors building courses, exams and practice sets.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▸  </a:t>
            </a:r>
            <a:r>
              <a:rPr sz="1400" b="0">
                <a:solidFill>
                  <a:srgbClr val="ECECEC"/>
                </a:solidFill>
                <a:latin typeface="Inter"/>
              </a:rPr>
              <a:t>Students who just need a browser and a login — or an exam PIN.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▸  </a:t>
            </a:r>
            <a:r>
              <a:rPr sz="1400" b="0">
                <a:solidFill>
                  <a:srgbClr val="ECECEC"/>
                </a:solidFill>
                <a:latin typeface="Inter"/>
              </a:rPr>
              <a:t>Administrators who need every action logged and accountable.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CHAPTER 2 — BEYOND EXAM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EC"/>
                </a:solidFill>
                <a:latin typeface="Inter"/>
              </a:rPr>
              <a:t>Courses, lessons and practice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669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Courses:  </a:t>
            </a:r>
            <a:r>
              <a:rPr sz="1700" b="0">
                <a:solidFill>
                  <a:srgbClr val="ECECEC"/>
                </a:solidFill>
                <a:latin typeface="Inter"/>
              </a:rPr>
              <a:t>organise categories, courses and lessons in one place.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Enrollment:  </a:t>
            </a:r>
            <a:r>
              <a:rPr sz="1700" b="0">
                <a:solidFill>
                  <a:srgbClr val="ECECEC"/>
                </a:solidFill>
                <a:latin typeface="Inter"/>
              </a:rPr>
              <a:t>students join a course and work through it at their pace.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Practice mode:  </a:t>
            </a:r>
            <a:r>
              <a:rPr sz="1700" b="0">
                <a:solidFill>
                  <a:srgbClr val="ECECEC"/>
                </a:solidFill>
                <a:latin typeface="Inter"/>
              </a:rPr>
              <a:t>a dedicated practice area lets students revise before exam day.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Study analytics:  </a:t>
            </a:r>
            <a:r>
              <a:rPr sz="1700" b="0">
                <a:solidFill>
                  <a:srgbClr val="ECECEC"/>
                </a:solidFill>
                <a:latin typeface="Inter"/>
              </a:rPr>
              <a:t>sessions and usage are recorded, so progress is 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37360"/>
            <a:ext cx="5212080" cy="429768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65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Inter"/>
              </a:rPr>
              <a:t>THE LEARNING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468880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478024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9631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Learn — course lessons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3127248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136392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154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Practise — practice sets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785616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79476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81304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Sit — timed CBT exam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443984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453128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471416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Pass — instant result, 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CHAPTER 3 — SECURE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EC"/>
                </a:solidFill>
                <a:latin typeface="Inter"/>
              </a:rPr>
              <a:t>Three ways in — every one of them controlled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329184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0A37F"/>
                </a:solidFill>
                <a:latin typeface="Inter"/>
              </a:rPr>
              <a:t>Account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Students sign in with email and password. Roles decide what each account can see and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828800"/>
            <a:ext cx="3566160" cy="329184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0A37F"/>
                </a:solidFill>
                <a:latin typeface="Inter"/>
              </a:rPr>
              <a:t>Exam 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A PIN issued for one specific exam, with a usage limit — ideal for kiosks and exam halls.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828800"/>
            <a:ext cx="3566160" cy="329184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0A37F"/>
                </a:solidFill>
                <a:latin typeface="Inter"/>
              </a:rPr>
              <a:t>OTP for applicants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Entrance / applicant students verify with a one-time code; no account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8E8E8E"/>
                </a:solidFill>
                <a:latin typeface="Inter"/>
              </a:rPr>
              <a:t>Authorization is enforced on the server — hiding a button is never the only guard.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CHAPTER 4 — PROOF OF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EC"/>
                </a:solidFill>
                <a:latin typeface="Inter"/>
              </a:rPr>
              <a:t>Certificates, issued by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6692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Automatic:  </a:t>
            </a:r>
            <a:r>
              <a:rPr sz="1700" b="0">
                <a:solidFill>
                  <a:srgbClr val="ECECEC"/>
                </a:solidFill>
                <a:latin typeface="Inter"/>
              </a:rPr>
              <a:t>a certificate is generated for a passed exam attempt.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Traceable:  </a:t>
            </a:r>
            <a:r>
              <a:rPr sz="1700" b="0">
                <a:solidFill>
                  <a:srgbClr val="ECECEC"/>
                </a:solidFill>
                <a:latin typeface="Inter"/>
              </a:rPr>
              <a:t>certificates live in the platform, next to the attempt that earned them.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Notifications:  </a:t>
            </a:r>
            <a:r>
              <a:rPr sz="1700" b="0">
                <a:solidFill>
                  <a:srgbClr val="ECECEC"/>
                </a:solidFill>
                <a:latin typeface="Inter"/>
              </a:rPr>
              <a:t>students are notified in-app when something needs their attention.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37360"/>
            <a:ext cx="5212080" cy="292608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65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Inter"/>
              </a:rPr>
              <a:t>WHAT THE STUDENT SEES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468880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478024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9631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Finish the exam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3127248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136392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154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See the score instantly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785616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79476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81304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Download the certificate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CHAPTER 5 — BUILT-IN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EC"/>
                </a:solidFill>
                <a:latin typeface="Inter"/>
              </a:rPr>
              <a:t>AI endpoints, rate-limited and server-side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AI features:  </a:t>
            </a:r>
            <a:r>
              <a:rPr sz="1700" b="0">
                <a:solidFill>
                  <a:srgbClr val="ECECEC"/>
                </a:solidFill>
                <a:latin typeface="Inter"/>
              </a:rPr>
              <a:t>the platform ships a dedicated AI service — endpoints are built in, no bolt-ons.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Protected:  </a:t>
            </a:r>
            <a:r>
              <a:rPr sz="1700" b="0">
                <a:solidFill>
                  <a:srgbClr val="ECECEC"/>
                </a:solidFill>
                <a:latin typeface="Inter"/>
              </a:rPr>
              <a:t>AI requests pass through a throttle (30 requests per minute) so costs stay predictable.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Server-side:  </a:t>
            </a:r>
            <a:r>
              <a:rPr sz="1700" b="0">
                <a:solidFill>
                  <a:srgbClr val="ECECEC"/>
                </a:solidFill>
                <a:latin typeface="Inter"/>
              </a:rPr>
              <a:t>AI calls happen on the backend — keys never touch the browser.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11064240" cy="155448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Inter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An instructor can lean on AI without the platform slowing down for everyone else — and without exposing credentials to students.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CHAPTER 6 — KNOW WHAT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EC"/>
                </a:solidFill>
                <a:latin typeface="Inter"/>
              </a:rPr>
              <a:t>Analytics for learning, audit logs for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669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User analytics:  </a:t>
            </a:r>
            <a:r>
              <a:rPr sz="1700" b="0">
                <a:solidFill>
                  <a:srgbClr val="ECECEC"/>
                </a:solidFill>
                <a:latin typeface="Inter"/>
              </a:rPr>
              <a:t>per-user records of activity across the platform.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Study sessions:  </a:t>
            </a:r>
            <a:r>
              <a:rPr sz="1700" b="0">
                <a:solidFill>
                  <a:srgbClr val="ECECEC"/>
                </a:solidFill>
                <a:latin typeface="Inter"/>
              </a:rPr>
              <a:t>time-on-task is recorded while students learn.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Audit log:  </a:t>
            </a:r>
            <a:r>
              <a:rPr sz="1700" b="0">
                <a:solidFill>
                  <a:srgbClr val="ECECEC"/>
                </a:solidFill>
                <a:latin typeface="Inter"/>
              </a:rPr>
              <a:t>important actions are written to an immutable log — who did what, and when.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▸  </a:t>
            </a:r>
            <a:r>
              <a:rPr sz="1700" b="1">
                <a:solidFill>
                  <a:srgbClr val="ECECEC"/>
                </a:solidFill>
                <a:latin typeface="Inter"/>
              </a:rPr>
              <a:t>Notifications:  </a:t>
            </a:r>
            <a:r>
              <a:rPr sz="1700" b="0">
                <a:solidFill>
                  <a:srgbClr val="ECECEC"/>
                </a:solidFill>
                <a:latin typeface="Inter"/>
              </a:rPr>
              <a:t>the platform tells users what changed, in-app.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37360"/>
            <a:ext cx="5212080" cy="429768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65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Inter"/>
              </a:rPr>
              <a:t>FOR THE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423160"/>
            <a:ext cx="4663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▸  </a:t>
            </a:r>
            <a:r>
              <a:rPr sz="1400" b="0">
                <a:solidFill>
                  <a:srgbClr val="ECECEC"/>
                </a:solidFill>
                <a:latin typeface="Inter"/>
              </a:rPr>
              <a:t>See who attempted which exam, and when.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▸  </a:t>
            </a:r>
            <a:r>
              <a:rPr sz="1400" b="0">
                <a:solidFill>
                  <a:srgbClr val="ECECEC"/>
                </a:solidFill>
                <a:latin typeface="Inter"/>
              </a:rPr>
              <a:t>Trace any suspicious action to an account.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▸  </a:t>
            </a:r>
            <a:r>
              <a:rPr sz="1400" b="0">
                <a:solidFill>
                  <a:srgbClr val="ECECEC"/>
                </a:solidFill>
                <a:latin typeface="Inter"/>
              </a:rPr>
              <a:t>Export-ready data — nothing lives only in someone's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CHAPTER 7 —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EC"/>
                </a:solidFill>
                <a:latin typeface="Inter"/>
              </a:rPr>
              <a:t>Modern, tested, deployable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93392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Django + REST API. 59 automated tests green. Clean app layout: accounts, courses, exams, certificates, analytics,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11064240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10712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410712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React 19 + Vite + Tailwind — fast, modern pages for admins, instructors and students.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11064240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28032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0A37F"/>
                </a:solidFill>
                <a:latin typeface="Inter"/>
              </a:rP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828032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Runs on a small cloud server (a ready deploy config ships with it) or your own hardware.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A37F"/>
                </a:solidFill>
                <a:latin typeface="Inter"/>
              </a:rPr>
              <a:t>CHAPTER 8 —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EC"/>
                </a:solidFill>
                <a:latin typeface="Inter"/>
              </a:rPr>
              <a:t>Running an exam takes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9384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4767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Admin creates the instructor and student accounts (or issues exam PINs)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78608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Instructor builds the question bank and the exam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36976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64408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Students log in — or enter their exam PIN — and take the timed exam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95344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04488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22776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Objective questions score instantly; theory lands in the grading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553712"/>
            <a:ext cx="384048" cy="384048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62856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D0D0D"/>
                </a:solidFill>
                <a:latin typeface="Inter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8114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CECEC"/>
                </a:solidFill>
                <a:latin typeface="Inter"/>
              </a:rPr>
              <a:t>Results and certificates are ready the same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94960"/>
            <a:ext cx="10332720" cy="27432"/>
          </a:xfrm>
          <a:prstGeom prst="rect">
            <a:avLst/>
          </a:prstGeom>
          <a:solidFill>
            <a:srgbClr val="383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ECECEC"/>
                </a:solidFill>
                <a:latin typeface="Inter"/>
              </a:rPr>
              <a:t>CBT. Test. Grade. Certify.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8E8E8E"/>
                </a:solidFill>
                <a:latin typeface="Inter"/>
              </a:rPr>
              <a:t>A complete computer-based testing platform — in the browser, on any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0A37F"/>
                </a:solidFill>
                <a:latin typeface="Inter"/>
              </a:rPr>
              <a:t>▸  </a:t>
            </a:r>
            <a:r>
              <a:rPr sz="1600" b="0">
                <a:solidFill>
                  <a:srgbClr val="ECECEC"/>
                </a:solidFill>
                <a:latin typeface="Inter"/>
              </a:rPr>
              <a:t>Ask for a live demo — we will walk your team through a full exam, end to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CBT • Computer-Based Test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E8E8E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